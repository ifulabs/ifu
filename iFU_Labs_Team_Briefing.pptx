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0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548640" cy="73152"/>
          </a:xfrm>
          <a:prstGeom prst="rect">
            <a:avLst/>
          </a:prstGeom>
          <a:solidFill>
            <a:srgbClr val="DAC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rial"/>
              </a:rPr>
              <a:t>iFU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DAC0FD"/>
                </a:solidFill>
                <a:latin typeface="Arial"/>
              </a:rPr>
              <a:t>What we're building. Who it's for. What's already shipped.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DAC0FD"/>
                </a:solidFill>
                <a:latin typeface="Arial"/>
              </a:rPr>
              <a:t>Team briefing  ·  May 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30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iFU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1887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DAC0FD"/>
                </a:solidFill>
                <a:latin typeface="Arial"/>
              </a:rPr>
              <a:t>Team briefing  ·  May 1st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33063D"/>
                </a:solidFill>
                <a:latin typeface="Arial"/>
              </a:rPr>
              <a:t>Who we 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8A6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33063D"/>
                </a:solidFill>
                <a:latin typeface="Arial"/>
              </a:rPr>
              <a:t>Expert AWS engineering for startups that ship fast.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33063D"/>
                </a:solidFill>
                <a:latin typeface="Arial"/>
              </a:rPr>
              <a:t>•  AWS Partner Network member · remote-first.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063D"/>
                </a:solidFill>
                <a:latin typeface="Arial"/>
              </a:rPr>
              <a:t>•  Two lines of business under one roof:  consultancy  +  SaaS products.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063D"/>
                </a:solidFill>
                <a:latin typeface="Arial"/>
              </a:rPr>
              <a:t>•  Read-only infrastructure access, always — we never get production write keys.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063D"/>
                </a:solidFill>
                <a:latin typeface="Arial"/>
              </a:rPr>
              <a:t>•  SOC 2 compliant practice. Full IaC handover at the end of every engagement.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33063D"/>
                </a:solidFill>
                <a:latin typeface="Arial"/>
              </a:rPr>
              <a:t>•  AWS-certified team:  Solutions Architect, DevOps Pro, Security, Data, 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30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iFU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1887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DAC0FD"/>
                </a:solidFill>
                <a:latin typeface="Arial"/>
              </a:rPr>
              <a:t>Team briefing  ·  May 1st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33063D"/>
                </a:solidFill>
                <a:latin typeface="Arial"/>
              </a:rPr>
              <a:t>Who we serve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8A6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33063D"/>
                </a:solidFill>
                <a:latin typeface="Arial"/>
              </a:rPr>
              <a:t>Startups on AWS — pre-seed through Series 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3657600" cy="329184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063D"/>
                </a:solidFill>
                <a:latin typeface="Arial"/>
              </a:rPr>
              <a:t>Founders &amp; CTOs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37560"/>
            <a:ext cx="365760" cy="45720"/>
          </a:xfrm>
          <a:prstGeom prst="rect">
            <a:avLst/>
          </a:prstGeom>
          <a:solidFill>
            <a:srgbClr val="8A6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2044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063D"/>
                </a:solidFill>
                <a:latin typeface="Arial"/>
              </a:rPr>
              <a:t>Need AWS expertise but can't afford a full platform team. Want fixed scope, fast turnaround, no lock-in.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651760"/>
            <a:ext cx="3657600" cy="329184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063D"/>
                </a:solidFill>
                <a:latin typeface="Arial"/>
              </a:rPr>
              <a:t>Compliance owners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3337560"/>
            <a:ext cx="365760" cy="45720"/>
          </a:xfrm>
          <a:prstGeom prst="rect">
            <a:avLst/>
          </a:prstGeom>
          <a:solidFill>
            <a:srgbClr val="8A6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52044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063D"/>
                </a:solidFill>
                <a:latin typeface="Arial"/>
              </a:rPr>
              <a:t>Going through SOC 2, ISO 27001, GDPR, HIPAA, or PCI DSS. Drowning in screenshots and auditor questions.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651760"/>
            <a:ext cx="3657600" cy="329184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063D"/>
                </a:solidFill>
                <a:latin typeface="Arial"/>
              </a:rPr>
              <a:t>Finance / eng leads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337560"/>
            <a:ext cx="365760" cy="45720"/>
          </a:xfrm>
          <a:prstGeom prst="rect">
            <a:avLst/>
          </a:prstGeom>
          <a:solidFill>
            <a:srgbClr val="8A6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520440"/>
            <a:ext cx="32918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063D"/>
                </a:solidFill>
                <a:latin typeface="Arial"/>
              </a:rPr>
              <a:t>AWS bill climbs every month. Want to know exactly where the waste is — without a 6-figure FinOps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30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iFU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1887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DAC0FD"/>
                </a:solidFill>
                <a:latin typeface="Arial"/>
              </a:rPr>
              <a:t>Team briefing  ·  May 1st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33063D"/>
                </a:solidFill>
                <a:latin typeface="Arial"/>
              </a:rPr>
              <a:t>What we've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8A6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A4A66"/>
                </a:solidFill>
                <a:latin typeface="Arial"/>
              </a:rPr>
              <a:t>One platform. Four apps. Single login.  22 database tables  ·  18 API route modules  ·  8 background workers.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486400" cy="1828800"/>
          </a:xfrm>
          <a:prstGeom prst="roundRect">
            <a:avLst/>
          </a:prstGeom>
          <a:solidFill>
            <a:srgbClr val="DAC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A63E6"/>
                </a:solidFill>
                <a:latin typeface="Arial"/>
              </a:rPr>
              <a:t>PRODUCT  · 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33063D"/>
                </a:solidFill>
                <a:latin typeface="Arial"/>
              </a:rPr>
              <a:t>iFu Costless  (FinOps)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063D"/>
                </a:solidFill>
                <a:latin typeface="Arial"/>
              </a:rPr>
              <a:t>AWS cost dashboard. Waste detection, anomaly alerts, budgets, tag allocation, AI/GPU spend, RI/SP coverage, AI summary.</a:t>
            </a:r>
          </a:p>
          <a:p>
            <a:pPr algn="l"/>
            <a:r>
              <a:rPr sz="1300" b="0">
                <a:solidFill>
                  <a:srgbClr val="33063D"/>
                </a:solidFill>
                <a:latin typeface="Arial"/>
              </a:rPr>
              <a:t>$199 / month, billed annually.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560320"/>
            <a:ext cx="5486400" cy="1828800"/>
          </a:xfrm>
          <a:prstGeom prst="roundRect">
            <a:avLst/>
          </a:prstGeom>
          <a:solidFill>
            <a:srgbClr val="DAC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A63E6"/>
                </a:solidFill>
                <a:latin typeface="Arial"/>
              </a:rPr>
              <a:t>PRODUCT  ·  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175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33063D"/>
                </a:solidFill>
                <a:latin typeface="Arial"/>
              </a:rPr>
              <a:t>iFu Comply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47472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063D"/>
                </a:solidFill>
                <a:latin typeface="Arial"/>
              </a:rPr>
              <a:t>5 frameworks · 77 controls · automated evidence from AWS, GitHub, Okta, Google Workspace.</a:t>
            </a:r>
          </a:p>
          <a:p>
            <a:pPr algn="l"/>
            <a:r>
              <a:rPr sz="1300" b="0">
                <a:solidFill>
                  <a:srgbClr val="33063D"/>
                </a:solidFill>
                <a:latin typeface="Arial"/>
              </a:rPr>
              <a:t>$299 Starter  /  $799 Growth — billed annually.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5486400" cy="18288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A63E6"/>
                </a:solidFill>
                <a:latin typeface="Arial"/>
              </a:rPr>
              <a:t>GLUE  ·  internal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33063D"/>
                </a:solidFill>
                <a:latin typeface="Arial"/>
              </a:rPr>
              <a:t>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063D"/>
                </a:solidFill>
                <a:latin typeface="Arial"/>
              </a:rPr>
              <a:t>Sign-up, login, onboarding, Paystack billing. Single JWT cookie shared across all apps — one login, anywhere.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26280"/>
            <a:ext cx="5486400" cy="18288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7091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A63E6"/>
                </a:solidFill>
                <a:latin typeface="Arial"/>
              </a:rPr>
              <a:t>FRONT DOOR  ·  marketing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83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33063D"/>
                </a:solidFill>
                <a:latin typeface="Arial"/>
              </a:rPr>
              <a:t>Website  +  Consultancy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4406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063D"/>
                </a:solidFill>
                <a:latin typeface="Arial"/>
              </a:rPr>
              <a:t>Pricing for projects, managed services, and SaaS. Demos, brand showcase, discovery-call booking.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30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iFU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1887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DAC0FD"/>
                </a:solidFill>
                <a:latin typeface="Arial"/>
              </a:rPr>
              <a:t>Team briefing  ·  May 1st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063D"/>
                </a:solidFill>
                <a:latin typeface="Arial"/>
              </a:rPr>
              <a:t>iFu Costless  —  AWS cost &amp; FinOps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457200" cy="54864"/>
          </a:xfrm>
          <a:prstGeom prst="rect">
            <a:avLst/>
          </a:prstGeom>
          <a:solidFill>
            <a:srgbClr val="8A6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4A66"/>
                </a:solidFill>
                <a:latin typeface="Arial"/>
              </a:rPr>
              <a:t>10 API endpoints  ·  daily auto-scan  ·  anomaly detection wired to email + Slack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63E6"/>
                </a:solidFill>
                <a:latin typeface="Arial"/>
              </a:rPr>
              <a:t>Detection &amp;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8 waste types: EBS, EIP, EC2, NAT, RDS, LBs, snapshots, AI/GPU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Rightsizing — top 20 from AWS Compute Optimizer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Reserved Instance &amp; Savings Plan coverage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Daily cost trend (30 / 90 / 180 days)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Tag-based allocation &amp; showback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End-of-month spend forecast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AI/GPU spend breakdown (Bedrock, SageMaker, idle GPU)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AI summary in plain English (Bedrock + Claude)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63E6"/>
                </a:solidFill>
                <a:latin typeface="Arial"/>
              </a:rPr>
              <a:t>Action &amp;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Anomaly detection — email + Slack alerts on cost spikes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Budgets with 50/80/100% threshold notifications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Recommendation workflow:  open → snoozed → done → dismissed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Custom date ranges — any start/end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CSV / JSON / FOCUS 1.1 export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Real-time scan progress (server-sent events)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Daily auto-scan at 03:00 UTC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Outbound webhooks (HMAC-signed)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30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iFU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1887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DAC0FD"/>
                </a:solidFill>
                <a:latin typeface="Arial"/>
              </a:rPr>
              <a:t>Team briefing  ·  May 1st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33063D"/>
                </a:solidFill>
                <a:latin typeface="Arial"/>
              </a:rPr>
              <a:t>iFu Comply  —  multi-framework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457200" cy="54864"/>
          </a:xfrm>
          <a:prstGeom prst="rect">
            <a:avLst/>
          </a:prstGeom>
          <a:solidFill>
            <a:srgbClr val="8A6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A4A66"/>
                </a:solidFill>
                <a:latin typeface="Arial"/>
              </a:rPr>
              <a:t>Continuous evidence collection. Audit-ready PDFs. 4 connectors 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63E6"/>
                </a:solidFill>
                <a:latin typeface="Arial"/>
              </a:rPr>
              <a:t>5 frameworks  ·  77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2212848" cy="960120"/>
          </a:xfrm>
          <a:prstGeom prst="roundRect">
            <a:avLst/>
          </a:prstGeom>
          <a:solidFill>
            <a:srgbClr val="DAC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1576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063D"/>
                </a:solidFill>
                <a:latin typeface="Arial"/>
              </a:rPr>
              <a:t>SOC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063D"/>
                </a:solidFill>
                <a:latin typeface="Arial"/>
              </a:rPr>
              <a:t>~25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7355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63E6"/>
                </a:solidFill>
                <a:latin typeface="Arial"/>
              </a:rPr>
              <a:t>Starter 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2606040"/>
            <a:ext cx="2212848" cy="960120"/>
          </a:xfrm>
          <a:prstGeom prst="roundRect">
            <a:avLst/>
          </a:prstGeom>
          <a:solidFill>
            <a:srgbClr val="DAC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7208" y="271576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063D"/>
                </a:solidFill>
                <a:latin typeface="Arial"/>
              </a:rPr>
              <a:t>ISO 27001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301752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063D"/>
                </a:solidFill>
                <a:latin typeface="Arial"/>
              </a:rPr>
              <a:t>~30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327355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63E6"/>
                </a:solidFill>
                <a:latin typeface="Arial"/>
              </a:rPr>
              <a:t>Growth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2606040"/>
            <a:ext cx="2212848" cy="960120"/>
          </a:xfrm>
          <a:prstGeom prst="roundRect">
            <a:avLst/>
          </a:prstGeom>
          <a:solidFill>
            <a:srgbClr val="DAC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5776" y="271576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063D"/>
                </a:solidFill>
                <a:latin typeface="Arial"/>
              </a:rPr>
              <a:t>GDPR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301752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063D"/>
                </a:solidFill>
                <a:latin typeface="Arial"/>
              </a:rPr>
              <a:t>~20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327355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63E6"/>
                </a:solidFill>
                <a:latin typeface="Arial"/>
              </a:rPr>
              <a:t>Growth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2606040"/>
            <a:ext cx="2212848" cy="960120"/>
          </a:xfrm>
          <a:prstGeom prst="roundRect">
            <a:avLst/>
          </a:prstGeom>
          <a:solidFill>
            <a:srgbClr val="DAC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4344" y="271576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063D"/>
                </a:solidFill>
                <a:latin typeface="Arial"/>
              </a:rPr>
              <a:t>HIPAA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301752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063D"/>
                </a:solidFill>
                <a:latin typeface="Arial"/>
              </a:rPr>
              <a:t>~15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327355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63E6"/>
                </a:solidFill>
                <a:latin typeface="Arial"/>
              </a:rPr>
              <a:t>Growth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82912" y="2606040"/>
            <a:ext cx="2212848" cy="960120"/>
          </a:xfrm>
          <a:prstGeom prst="roundRect">
            <a:avLst/>
          </a:prstGeom>
          <a:solidFill>
            <a:srgbClr val="DAC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82912" y="271576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063D"/>
                </a:solidFill>
                <a:latin typeface="Arial"/>
              </a:rPr>
              <a:t>PCI DSS 4.0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301752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33063D"/>
                </a:solidFill>
                <a:latin typeface="Arial"/>
              </a:rPr>
              <a:t>29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327355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63E6"/>
                </a:solidFill>
                <a:latin typeface="Arial"/>
              </a:rPr>
              <a:t>Growth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63E6"/>
                </a:solidFill>
                <a:latin typeface="Arial"/>
              </a:rPr>
              <a:t>Evidence &amp; connectors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1605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AWS — IAM, S3, CloudTrail, RDS, GuardDuty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GitHub — branch protection, secret scanning, CODEOWNERS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Okta — MFA, password policy, key rotation (CC6.1–6.3)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Google Workspace — MFA, password policy, audit logs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Manual evidence upload to S3, with expiry tracking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AI gap explanations via Claude (24h cache, Growth tier)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40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63E6"/>
                </a:solidFill>
                <a:latin typeface="Arial"/>
              </a:rPr>
              <a:t>Workflow &amp; 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1605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Remediation tracking — owner, due date, status, comments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Control exemptions workflow with approval + expiry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Bulk control actions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Audit calendar with iCalendar (.ics) export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Auditor role — read-only across the entire backend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Compliance score history &amp; trend chart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Drift detection → email + Slack + webhooks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063D"/>
                </a:solidFill>
                <a:latin typeface="Arial"/>
              </a:rPr>
              <a:t>•  PDF evidence pack per framework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30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iFU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1887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DAC0FD"/>
                </a:solidFill>
                <a:latin typeface="Arial"/>
              </a:rPr>
              <a:t>Team briefing  ·  May 1st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33063D"/>
                </a:solidFill>
                <a:latin typeface="Arial"/>
              </a:rPr>
              <a:t>How it fits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8A6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37760" y="2194560"/>
            <a:ext cx="2286000" cy="914400"/>
          </a:xfrm>
          <a:prstGeom prst="roundRect">
            <a:avLst/>
          </a:prstGeom>
          <a:solidFill>
            <a:srgbClr val="330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2377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97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AC0FD"/>
                </a:solidFill>
                <a:latin typeface="Arial"/>
              </a:rPr>
              <a:t>login  ·  onboarding  ·  billing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2926080" cy="914400"/>
          </a:xfrm>
          <a:prstGeom prst="roundRect">
            <a:avLst/>
          </a:prstGeom>
          <a:solidFill>
            <a:srgbClr val="8A6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iFu Comply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AC0FD"/>
                </a:solidFill>
                <a:latin typeface="Arial"/>
              </a:rPr>
              <a:t>compliance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3657600"/>
            <a:ext cx="2926080" cy="914400"/>
          </a:xfrm>
          <a:prstGeom prst="roundRect">
            <a:avLst/>
          </a:prstGeom>
          <a:solidFill>
            <a:srgbClr val="8A6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840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iFu Costless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160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AC0FD"/>
                </a:solidFill>
                <a:latin typeface="Arial"/>
              </a:rPr>
              <a:t>FinOps dashboard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194560" y="3108960"/>
            <a:ext cx="2834640" cy="548640"/>
          </a:xfrm>
          <a:prstGeom prst="line">
            <a:avLst/>
          </a:prstGeom>
          <a:ln w="19050">
            <a:solidFill>
              <a:srgbClr val="330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32320" y="3108960"/>
            <a:ext cx="2834640" cy="548640"/>
          </a:xfrm>
          <a:prstGeom prst="line">
            <a:avLst/>
          </a:prstGeom>
          <a:ln w="19050">
            <a:solidFill>
              <a:srgbClr val="330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389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063D"/>
                </a:solidFill>
                <a:latin typeface="Arial"/>
              </a:rPr>
              <a:t>Shared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33063D"/>
                </a:solidFill>
                <a:latin typeface="Arial"/>
              </a:rPr>
              <a:t>Single JWT login  ·  Postgres + Redis  ·  BullMQ + node-cron  ·  Paystack billing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8A63E6"/>
                </a:solidFill>
                <a:latin typeface="Arial"/>
              </a:rPr>
              <a:t>AWS  ·  GitHub  ·  Okta  ·  Google Workspace  ·  Slack  ·  Bedrock + Claude  ·  Resend  ·  Paystack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330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iFU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1887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DAC0FD"/>
                </a:solidFill>
                <a:latin typeface="Arial"/>
              </a:rPr>
              <a:t>Team briefing  ·  May 1st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33063D"/>
                </a:solidFill>
                <a:latin typeface="Arial"/>
              </a:rPr>
              <a:t>Shipped &amp; live in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457200" cy="54864"/>
          </a:xfrm>
          <a:prstGeom prst="rect">
            <a:avLst/>
          </a:prstGeom>
          <a:solidFill>
            <a:srgbClr val="8A6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657600" cy="457200"/>
          </a:xfrm>
          <a:prstGeom prst="roundRect">
            <a:avLst/>
          </a:prstGeom>
          <a:solidFill>
            <a:srgbClr val="C8F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063D"/>
                </a:solidFill>
                <a:latin typeface="Arial"/>
              </a:rPr>
              <a:t>Comply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Controls list / detail / scoring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Score history + trend chart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Remediation tracking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Control exemptions workflow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Threaded comments per control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Bulk control actions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Audit calendar (.ics export)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Audit log surface (UI + API)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AI gap explanations (Claude)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PDF evidence packs per framework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Manual S3 evidence upload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Vendor risk register (cert tracking)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657600" cy="457200"/>
          </a:xfrm>
          <a:prstGeom prst="roundRect">
            <a:avLst/>
          </a:prstGeom>
          <a:solidFill>
            <a:srgbClr val="C8F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9019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063D"/>
                </a:solidFill>
                <a:latin typeface="Arial"/>
              </a:rPr>
              <a:t>FinOps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8-type waste detection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Rightsizing recommendations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RI / Savings Plan coverage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Spend forecast + AI summary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Anomaly detection + alerts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Budgets w/ 50/80/100% triggers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Tag-based allocation &amp; showback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AI / GPU spend view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Recommendation workflow states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Custom date ranges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CSV / JSON / FOCUS 1.1 export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Real-time scan progress (SSE)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657600" cy="457200"/>
          </a:xfrm>
          <a:prstGeom prst="roundRect">
            <a:avLst/>
          </a:prstGeom>
          <a:solidFill>
            <a:srgbClr val="C8F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9019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063D"/>
                </a:solidFill>
                <a:latin typeface="Arial"/>
              </a:rPr>
              <a:t>Platform &amp; 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42316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Portal — auth, onboarding, billing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Auth0 + JWT shared login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Paystack billing (3 plan codes)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AWS connector (read-only STS)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GitHub connector (App)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Okta connector (MFA, policy, keys)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Google Workspace connector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Slack app (OAuth + Block Kit)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Outbound webhooks (HMAC, retries)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Daily scheduler (02:00 / 03:00 UTC)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Auditor read-only role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33063D"/>
                </a:solidFill>
                <a:latin typeface="Arial"/>
              </a:rPr>
              <a:t>✓  Plan gating (Starter / Growth)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0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548640" cy="73152"/>
          </a:xfrm>
          <a:prstGeom prst="rect">
            <a:avLst/>
          </a:prstGeom>
          <a:solidFill>
            <a:srgbClr val="DAC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Arial"/>
              </a:rPr>
              <a:t>That's iFU Labs.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DAC0FD"/>
                </a:solidFill>
                <a:latin typeface="Arial"/>
              </a:rPr>
              <a:t>AWS engineering services + two SaaS products.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Cost control and compliance — already shipped, already running daily.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DAC0FD"/>
                </a:solidFill>
                <a:latin typeface="Arial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